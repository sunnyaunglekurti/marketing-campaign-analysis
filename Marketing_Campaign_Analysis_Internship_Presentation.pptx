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Marketing Campaign</a:t>
            </a:r>
            <a:br/>
            <a:r>
              <a:t>Performance &amp; Customer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BECDE1"/>
                </a:solidFill>
              </a:defRPr>
            </a:pPr>
            <a:r>
              <a:t>Internship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16636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SQL  •  Python  •  Pandas  • 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0"/>
                </a:solidFill>
              </a:defRPr>
            </a:pPr>
            <a:r>
              <a:t>1.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D"/>
                </a:solidFill>
              </a:defRPr>
            </a:pPr>
            <a:r>
              <a:t>Turning historical marketing data into actionable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2A34"/>
                </a:solidFill>
              </a:defRPr>
            </a:pPr>
            <a:r>
              <a:t>Marketing investment is spread across multiple campaigns and channels, but performance is uneven.</a:t>
            </a:r>
          </a:p>
          <a:p>
            <a:pPr>
              <a:spcAft>
                <a:spcPts val="1000"/>
              </a:spcAft>
              <a:defRPr sz="1800" b="0">
                <a:solidFill>
                  <a:srgbClr val="232A34"/>
                </a:solidFill>
              </a:defRPr>
            </a:pPr>
            <a:r>
              <a:t>Business stakeholders need to identify which campaigns generate stronger returns and which require optimization.</a:t>
            </a:r>
          </a:p>
          <a:p>
            <a:pPr>
              <a:spcAft>
                <a:spcPts val="1000"/>
              </a:spcAft>
              <a:defRPr sz="1800" b="0">
                <a:solidFill>
                  <a:srgbClr val="232A34"/>
                </a:solidFill>
              </a:defRPr>
            </a:pPr>
            <a:r>
              <a:t>Customer groups behave differently, so the same channel or offer may not work equally well for everyone.</a:t>
            </a:r>
          </a:p>
          <a:p>
            <a:pPr>
              <a:spcAft>
                <a:spcPts val="1000"/>
              </a:spcAft>
              <a:defRPr sz="1800" b="0">
                <a:solidFill>
                  <a:srgbClr val="232A34"/>
                </a:solidFill>
              </a:defRPr>
            </a:pPr>
            <a:r>
              <a:t>The project combines campaign performance, channel effectiveness, customer segmentation and budget allocation into one analytical view.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Marketing Campaign Performance &amp; Customer Segmentation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0"/>
                </a:solidFill>
              </a:defRPr>
            </a:pPr>
            <a:r>
              <a:t>2. Objectives &amp; Analytical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166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1874519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554480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E7D"/>
                </a:solidFill>
              </a:defRPr>
            </a:pPr>
            <a:r>
              <a:t>Campaign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423160"/>
            <a:ext cx="480060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A34"/>
                </a:solidFill>
              </a:defRPr>
            </a:pPr>
            <a:r>
              <a:t>Which campaigns generate the highest and lowest ROAS?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166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417320"/>
            <a:ext cx="73152" cy="1874519"/>
          </a:xfrm>
          <a:prstGeom prst="rect">
            <a:avLst/>
          </a:prstGeom>
          <a:solidFill>
            <a:srgbClr val="2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4807" y="1554480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E7D"/>
                </a:solidFill>
              </a:defRPr>
            </a:pPr>
            <a:r>
              <a:t>Channel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2423160"/>
            <a:ext cx="480060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A34"/>
                </a:solidFill>
              </a:defRPr>
            </a:pPr>
            <a:r>
              <a:t>Which acquisition channels deliver stronger returns?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657600"/>
            <a:ext cx="5166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3657600"/>
            <a:ext cx="73152" cy="1874519"/>
          </a:xfrm>
          <a:prstGeom prst="rect">
            <a:avLst/>
          </a:prstGeom>
          <a:solidFill>
            <a:srgbClr val="DC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3794760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E7D"/>
                </a:solidFill>
              </a:defRPr>
            </a:pPr>
            <a:r>
              <a:t>Customer Segmentation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63440"/>
            <a:ext cx="480060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A34"/>
                </a:solidFill>
              </a:defRPr>
            </a:pPr>
            <a:r>
              <a:t>Which customer groups are most valuable and how do they behave?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657600"/>
            <a:ext cx="5166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3657600"/>
            <a:ext cx="73152" cy="1874519"/>
          </a:xfrm>
          <a:prstGeom prst="rect">
            <a:avLst/>
          </a:prstGeom>
          <a:solidFill>
            <a:srgbClr val="14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4807" y="3794760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E7D"/>
                </a:solidFill>
              </a:defRPr>
            </a:pPr>
            <a:r>
              <a:t>Budget Optimization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4663440"/>
            <a:ext cx="480060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A34"/>
                </a:solidFill>
              </a:defRPr>
            </a:pPr>
            <a:r>
              <a:t>Where does performance suggest an opportunity to reallocate spend?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Marketing Campaign Performance &amp; Customer Segmentation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0"/>
                </a:solidFill>
              </a:defRPr>
            </a:pPr>
            <a:r>
              <a:t>3. Data &amp; Technology Workflow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554480"/>
            <a:ext cx="594360" cy="594360"/>
          </a:xfrm>
          <a:prstGeom prst="ellipse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2423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73152" cy="201168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2423160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E7D"/>
                </a:solidFill>
              </a:defRPr>
            </a:pPr>
            <a:r>
              <a:t>MySQL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291840"/>
            <a:ext cx="2057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A34"/>
                </a:solidFill>
              </a:defRPr>
            </a:pPr>
            <a:r>
              <a:t>Store, validate and prepare data</a:t>
            </a:r>
          </a:p>
        </p:txBody>
      </p:sp>
      <p:sp>
        <p:nvSpPr>
          <p:cNvPr id="10" name="Chevron 9"/>
          <p:cNvSpPr/>
          <p:nvPr/>
        </p:nvSpPr>
        <p:spPr>
          <a:xfrm>
            <a:off x="3063240" y="2926080"/>
            <a:ext cx="411480" cy="502920"/>
          </a:xfrm>
          <a:prstGeom prst="chevron">
            <a:avLst/>
          </a:prstGeom>
          <a:solidFill>
            <a:srgbClr val="C8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474720" y="1554480"/>
            <a:ext cx="594360" cy="594360"/>
          </a:xfrm>
          <a:prstGeom prst="ellipse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1664208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2286000"/>
            <a:ext cx="2423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37560" y="2286000"/>
            <a:ext cx="73152" cy="201168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8728" y="2423160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E7D"/>
                </a:solidFill>
              </a:defRPr>
            </a:pPr>
            <a:r>
              <a:t>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3291840"/>
            <a:ext cx="1986441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A34"/>
                </a:solidFill>
              </a:defRPr>
            </a:pPr>
            <a:r>
              <a:rPr dirty="0"/>
              <a:t>Calculate metrics and analytical</a:t>
            </a:r>
            <a:endParaRPr lang="en-US" dirty="0"/>
          </a:p>
          <a:p>
            <a:pPr>
              <a:defRPr sz="1100">
                <a:solidFill>
                  <a:srgbClr val="232A34"/>
                </a:solidFill>
              </a:defRPr>
            </a:pPr>
            <a:r>
              <a:rPr dirty="0"/>
              <a:t> tables</a:t>
            </a:r>
          </a:p>
        </p:txBody>
      </p:sp>
      <p:sp>
        <p:nvSpPr>
          <p:cNvPr id="17" name="Chevron 16"/>
          <p:cNvSpPr/>
          <p:nvPr/>
        </p:nvSpPr>
        <p:spPr>
          <a:xfrm>
            <a:off x="5852160" y="2926080"/>
            <a:ext cx="411480" cy="502920"/>
          </a:xfrm>
          <a:prstGeom prst="chevron">
            <a:avLst/>
          </a:prstGeom>
          <a:solidFill>
            <a:srgbClr val="C8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263640" y="1554480"/>
            <a:ext cx="594360" cy="594360"/>
          </a:xfrm>
          <a:prstGeom prst="ellipse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1664208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79" y="2286000"/>
            <a:ext cx="24231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26479" y="2286000"/>
            <a:ext cx="73152" cy="201168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27647" y="2423160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E7D"/>
                </a:solidFill>
              </a:defRPr>
            </a:pPr>
            <a:r>
              <a:t>Python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7" y="3291840"/>
            <a:ext cx="2057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A34"/>
                </a:solidFill>
              </a:defRPr>
            </a:pPr>
            <a:r>
              <a:t>EDA, distributions and relationships</a:t>
            </a:r>
          </a:p>
        </p:txBody>
      </p:sp>
      <p:sp>
        <p:nvSpPr>
          <p:cNvPr id="24" name="Chevron 23"/>
          <p:cNvSpPr/>
          <p:nvPr/>
        </p:nvSpPr>
        <p:spPr>
          <a:xfrm>
            <a:off x="8641080" y="2926080"/>
            <a:ext cx="411480" cy="502920"/>
          </a:xfrm>
          <a:prstGeom prst="chevron">
            <a:avLst/>
          </a:prstGeom>
          <a:solidFill>
            <a:srgbClr val="C8D2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052559" y="1554480"/>
            <a:ext cx="594360" cy="594360"/>
          </a:xfrm>
          <a:prstGeom prst="ellipse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52559" y="1664208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15399" y="2368296"/>
            <a:ext cx="2526793" cy="1929384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915399" y="2286000"/>
            <a:ext cx="73152" cy="201168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16567" y="2423160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E7D"/>
                </a:solidFill>
              </a:defRPr>
            </a:pPr>
            <a:r>
              <a:t>Power BI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71277" y="3186325"/>
            <a:ext cx="223811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A34"/>
                </a:solidFill>
              </a:defRPr>
            </a:pPr>
            <a:r>
              <a:rPr dirty="0"/>
              <a:t>Interactive dashboard and business </a:t>
            </a:r>
            <a:endParaRPr lang="en-US" dirty="0"/>
          </a:p>
          <a:p>
            <a:pPr>
              <a:defRPr sz="1100">
                <a:solidFill>
                  <a:srgbClr val="232A34"/>
                </a:solidFill>
              </a:defRPr>
            </a:pPr>
            <a:r>
              <a:rPr dirty="0"/>
              <a:t>storytelling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Marketing Campaign Performance &amp; Customer Segmentation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0"/>
                </a:solidFill>
              </a:defRPr>
            </a:pPr>
            <a:r>
              <a:t>4. Key Findings — Campaign &amp; Channel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2918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73152" cy="1508760"/>
          </a:xfrm>
          <a:prstGeom prst="rect">
            <a:avLst/>
          </a:prstGeom>
          <a:solidFill>
            <a:srgbClr val="2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463039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E7D"/>
                </a:solidFill>
              </a:defRPr>
            </a:pPr>
            <a:r>
              <a:t>Highest campaign ROAS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28800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1F30"/>
                </a:solidFill>
              </a:defRPr>
            </a:pPr>
            <a:r>
              <a:t>94.49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31720"/>
            <a:ext cx="292608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A34"/>
                </a:solidFill>
              </a:defRPr>
            </a:pPr>
            <a:r>
              <a:t>Monsoon Collection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325880"/>
            <a:ext cx="32918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60520" y="1325880"/>
            <a:ext cx="73152" cy="1508760"/>
          </a:xfrm>
          <a:prstGeom prst="rect">
            <a:avLst/>
          </a:prstGeom>
          <a:solidFill>
            <a:srgbClr val="DC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61688" y="1463039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E7D"/>
                </a:solidFill>
              </a:defRPr>
            </a:pPr>
            <a:r>
              <a:t>Lowest campaign ROAS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1828800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1F30"/>
                </a:solidFill>
              </a:defRPr>
            </a:pPr>
            <a:r>
              <a:t>52.39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331720"/>
            <a:ext cx="292608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A34"/>
                </a:solidFill>
              </a:defRPr>
            </a:pPr>
            <a:r>
              <a:t>Winter Collection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325880"/>
            <a:ext cx="32918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35240" y="1325880"/>
            <a:ext cx="73152" cy="150876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36408" y="1463039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E7D"/>
                </a:solidFill>
              </a:defRPr>
            </a:pPr>
            <a:r>
              <a:t>Top channel ROAS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6408" y="1828800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1F30"/>
                </a:solidFill>
              </a:defRPr>
            </a:pPr>
            <a:r>
              <a:t>86.06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6408" y="2331720"/>
            <a:ext cx="292608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A34"/>
                </a:solidFill>
              </a:defRPr>
            </a:pPr>
            <a:r>
              <a:t>Google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24612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A34"/>
                </a:solidFill>
              </a:defRPr>
            </a:pPr>
            <a:r>
              <a:t>Google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3273551"/>
            <a:ext cx="7955279" cy="201168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828800" y="3273551"/>
            <a:ext cx="6846313" cy="201168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66960" y="322783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1F30"/>
                </a:solidFill>
              </a:defRPr>
            </a:pPr>
            <a:r>
              <a:t>86.06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685031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A34"/>
                </a:solidFill>
              </a:defRPr>
            </a:pPr>
            <a:r>
              <a:t>Facebook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3712463"/>
            <a:ext cx="7955279" cy="201168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828800" y="3712463"/>
            <a:ext cx="6417524" cy="201168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966960" y="3666744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1F30"/>
                </a:solidFill>
              </a:defRPr>
            </a:pPr>
            <a:r>
              <a:t>80.67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123944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A34"/>
                </a:solidFill>
              </a:defRPr>
            </a:pPr>
            <a:r>
              <a:t>Email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4151376"/>
            <a:ext cx="7955279" cy="201168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828800" y="4151376"/>
            <a:ext cx="6339562" cy="201168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966960" y="410565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1F30"/>
                </a:solidFill>
              </a:defRPr>
            </a:pPr>
            <a:r>
              <a:t>79.69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56285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A34"/>
                </a:solidFill>
              </a:defRPr>
            </a:pPr>
            <a:r>
              <a:t>Instagram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4590288"/>
            <a:ext cx="7955279" cy="201168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828800" y="4590288"/>
            <a:ext cx="5618018" cy="201168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966960" y="454456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1F30"/>
                </a:solidFill>
              </a:defRPr>
            </a:pPr>
            <a:r>
              <a:t>70.62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001768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A34"/>
                </a:solidFill>
              </a:defRPr>
            </a:pPr>
            <a:r>
              <a:t>Influencer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0" y="5029200"/>
            <a:ext cx="7955279" cy="201168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828800" y="5029200"/>
            <a:ext cx="5074673" cy="201168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966960" y="49834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1F30"/>
                </a:solidFill>
              </a:defRPr>
            </a:pPr>
            <a:r>
              <a:t>63.79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44068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A34"/>
                </a:solidFill>
              </a:defRPr>
            </a:pPr>
            <a:r>
              <a:t>YouTube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0" y="5468112"/>
            <a:ext cx="7955279" cy="201168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828800" y="5468112"/>
            <a:ext cx="4979209" cy="201168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966960" y="54223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1F30"/>
                </a:solidFill>
              </a:defRPr>
            </a:pPr>
            <a:r>
              <a:t>62.59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Marketing Campaign Performance &amp; Customer Segmentation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0"/>
                </a:solidFill>
              </a:defRPr>
            </a:pPr>
            <a:r>
              <a:t>5. Customer Segmentation &amp; Targeting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26060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73152" cy="292608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554480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E7D"/>
                </a:solidFill>
              </a:defRPr>
            </a:pPr>
            <a:r>
              <a:t>Potential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920240"/>
            <a:ext cx="2240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1F30"/>
                </a:solidFill>
              </a:defRPr>
            </a:pPr>
            <a:r>
              <a:t>1,011 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23160"/>
            <a:ext cx="22402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A34"/>
                </a:solidFill>
              </a:defRPr>
            </a:pPr>
            <a:r>
              <a:t>~₹25.21M revenue</a:t>
            </a:r>
            <a:br/>
            <a:br/>
            <a:r>
              <a:t>Recommended: Nurture → conversion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17320"/>
            <a:ext cx="26060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29000" y="1417320"/>
            <a:ext cx="73152" cy="2926080"/>
          </a:xfrm>
          <a:prstGeom prst="rect">
            <a:avLst/>
          </a:prstGeom>
          <a:solidFill>
            <a:srgbClr val="DC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0168" y="1554480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E7D"/>
                </a:solidFill>
              </a:defRPr>
            </a:pPr>
            <a:r>
              <a:t>Discount Seeker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1920240"/>
            <a:ext cx="1467325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1F30"/>
                </a:solidFill>
              </a:defRPr>
            </a:pPr>
            <a:r>
              <a:rPr dirty="0"/>
              <a:t>Segment </a:t>
            </a:r>
            <a:endParaRPr lang="en-US" dirty="0"/>
          </a:p>
          <a:p>
            <a:pPr>
              <a:defRPr sz="2500" b="1">
                <a:solidFill>
                  <a:srgbClr val="141F30"/>
                </a:solidFill>
              </a:defRPr>
            </a:pPr>
            <a:r>
              <a:rPr dirty="0"/>
              <a:t>identified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752299"/>
            <a:ext cx="196237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2A34"/>
                </a:solidFill>
              </a:defRPr>
            </a:pPr>
            <a:r>
              <a:rPr dirty="0"/>
              <a:t>Promotional behavior</a:t>
            </a:r>
            <a:br>
              <a:rPr dirty="0"/>
            </a:br>
            <a:br>
              <a:rPr dirty="0"/>
            </a:br>
            <a:r>
              <a:rPr dirty="0"/>
              <a:t>Recommended: Discounts / flash sales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17320"/>
            <a:ext cx="26060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73152" cy="2926080"/>
          </a:xfrm>
          <a:prstGeom prst="rect">
            <a:avLst/>
          </a:prstGeom>
          <a:solidFill>
            <a:srgbClr val="DC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8" y="1554480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E7D"/>
                </a:solidFill>
              </a:defRPr>
            </a:pPr>
            <a:r>
              <a:t>At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920240"/>
            <a:ext cx="1467325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1F30"/>
                </a:solidFill>
              </a:defRPr>
            </a:pPr>
            <a:r>
              <a:rPr dirty="0"/>
              <a:t>Segment </a:t>
            </a:r>
            <a:endParaRPr lang="en-US" dirty="0"/>
          </a:p>
          <a:p>
            <a:pPr>
              <a:defRPr sz="2500" b="1">
                <a:solidFill>
                  <a:srgbClr val="141F30"/>
                </a:solidFill>
              </a:defRPr>
            </a:pPr>
            <a:r>
              <a:rPr dirty="0"/>
              <a:t>identified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2861441"/>
            <a:ext cx="22402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A34"/>
                </a:solidFill>
              </a:defRPr>
            </a:pPr>
            <a:r>
              <a:t>Retention risk</a:t>
            </a:r>
            <a:br/>
            <a:br/>
            <a:r>
              <a:t>Recommended: Re-engagement / win-back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71432" y="1417320"/>
            <a:ext cx="26060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98280" y="1417320"/>
            <a:ext cx="73152" cy="2926080"/>
          </a:xfrm>
          <a:prstGeom prst="rect">
            <a:avLst/>
          </a:prstGeom>
          <a:solidFill>
            <a:srgbClr val="2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99448" y="1554480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E7D"/>
                </a:solidFill>
              </a:defRPr>
            </a:pPr>
            <a:r>
              <a:t>High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1920240"/>
            <a:ext cx="1539460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1F30"/>
                </a:solidFill>
              </a:defRPr>
            </a:pPr>
            <a:r>
              <a:rPr dirty="0"/>
              <a:t>Segment</a:t>
            </a:r>
            <a:endParaRPr lang="en-US" dirty="0"/>
          </a:p>
          <a:p>
            <a:pPr>
              <a:defRPr sz="2500" b="1">
                <a:solidFill>
                  <a:srgbClr val="141F30"/>
                </a:solidFill>
              </a:defRPr>
            </a:pPr>
            <a:r>
              <a:rPr dirty="0"/>
              <a:t> identified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856" y="2864176"/>
            <a:ext cx="199766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A34"/>
                </a:solidFill>
              </a:defRPr>
            </a:pPr>
            <a:r>
              <a:rPr dirty="0"/>
              <a:t>High-value relationship</a:t>
            </a:r>
            <a:br>
              <a:rPr dirty="0"/>
            </a:br>
            <a:br>
              <a:rPr dirty="0"/>
            </a:br>
            <a:r>
              <a:rPr dirty="0"/>
              <a:t>Recommended: VIP retention / </a:t>
            </a:r>
            <a:endParaRPr lang="en-US" dirty="0"/>
          </a:p>
          <a:p>
            <a:pPr>
              <a:defRPr sz="1100">
                <a:solidFill>
                  <a:srgbClr val="232A34"/>
                </a:solidFill>
              </a:defRPr>
            </a:pPr>
            <a:r>
              <a:rPr dirty="0"/>
              <a:t>premium offers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7548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41F30"/>
                </a:solidFill>
              </a:defRPr>
            </a:pPr>
            <a:r>
              <a:t>Key insight: there is no single best channel for every customer group.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Marketing Campaign Performance &amp; Customer Segmentation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0"/>
                </a:solidFill>
              </a:defRPr>
            </a:pPr>
            <a:r>
              <a:t>6. Segment × Channel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32918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73152" cy="73152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" y="155448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E7D"/>
                </a:solidFill>
              </a:defRPr>
            </a:pPr>
            <a:r>
              <a:t>Customer Segment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2918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34840" y="1417320"/>
            <a:ext cx="73152" cy="73152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36007" y="155448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E7D"/>
                </a:solidFill>
              </a:defRPr>
            </a:pPr>
            <a:r>
              <a:t>Best Channel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417320"/>
            <a:ext cx="32918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92440" y="1417320"/>
            <a:ext cx="73152" cy="73152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93608" y="155448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6E7D"/>
                </a:solidFill>
              </a:defRPr>
            </a:pPr>
            <a:r>
              <a:t>Conversion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331720"/>
            <a:ext cx="32918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A34"/>
                </a:solidFill>
              </a:defRPr>
            </a:pPr>
            <a:r>
              <a:t>Potential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331720"/>
            <a:ext cx="32918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A34"/>
                </a:solidFill>
              </a:defRPr>
            </a:pPr>
            <a:r>
              <a:t>Google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331720"/>
            <a:ext cx="32918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A34"/>
                </a:solidFill>
              </a:defRPr>
            </a:pPr>
            <a:r>
              <a:t>12.67%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044952"/>
            <a:ext cx="32918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A34"/>
                </a:solidFill>
              </a:defRPr>
            </a:pPr>
            <a:r>
              <a:t>Discount Seeker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044952"/>
            <a:ext cx="32918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A34"/>
                </a:solidFill>
              </a:defRPr>
            </a:pPr>
            <a:r>
              <a:t>Facebook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3044952"/>
            <a:ext cx="32918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A34"/>
                </a:solidFill>
              </a:defRPr>
            </a:pPr>
            <a:r>
              <a:t>14.62%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758183"/>
            <a:ext cx="32918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A34"/>
                </a:solidFill>
              </a:defRPr>
            </a:pPr>
            <a:r>
              <a:t>High Value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758183"/>
            <a:ext cx="32918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A34"/>
                </a:solidFill>
              </a:defRPr>
            </a:pPr>
            <a:r>
              <a:t>Facebook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3758183"/>
            <a:ext cx="32918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A34"/>
                </a:solidFill>
              </a:defRPr>
            </a:pPr>
            <a:r>
              <a:t>13.88%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471416"/>
            <a:ext cx="32918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A34"/>
                </a:solidFill>
              </a:defRPr>
            </a:pPr>
            <a:r>
              <a:t>At Risk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4471416"/>
            <a:ext cx="32918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A34"/>
                </a:solidFill>
              </a:defRPr>
            </a:pPr>
            <a:r>
              <a:t>Facebook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4471416"/>
            <a:ext cx="329184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1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A34"/>
                </a:solidFill>
              </a:defRPr>
            </a:pPr>
            <a:r>
              <a:t>13.85%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232A34"/>
                </a:solidFill>
              </a:defRPr>
            </a:pPr>
            <a:r>
              <a:t>Implication: campaign planning should consider both channel performance and customer segment response.</a:t>
            </a:r>
          </a:p>
          <a:p>
            <a:pPr>
              <a:spcAft>
                <a:spcPts val="1000"/>
              </a:spcAft>
              <a:defRPr sz="1300" b="0">
                <a:solidFill>
                  <a:srgbClr val="232A34"/>
                </a:solidFill>
              </a:defRPr>
            </a:pPr>
            <a:r>
              <a:t>This supports targeted marketing rather than a one-size-fits-all channel strategy.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Marketing Campaign Performance &amp; Customer Segmentation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0"/>
                </a:solidFill>
              </a:defRPr>
            </a:pPr>
            <a:r>
              <a:t>7. Budget Allocation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72815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D"/>
                </a:solidFill>
              </a:defRPr>
            </a:pPr>
            <a:r>
              <a:rPr dirty="0"/>
              <a:t>Performance-weighted scenario — not a guaranteed optimal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32A34"/>
                </a:solidFill>
              </a:defRPr>
            </a:pPr>
            <a:r>
              <a:t>Google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40280" y="1353312"/>
            <a:ext cx="3657600" cy="228600"/>
          </a:xfrm>
          <a:prstGeom prst="rect">
            <a:avLst/>
          </a:prstGeom>
          <a:solidFill>
            <a:srgbClr val="CD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0280" y="1353312"/>
            <a:ext cx="2782911" cy="228600"/>
          </a:xfrm>
          <a:prstGeom prst="rect">
            <a:avLst/>
          </a:prstGeom>
          <a:solidFill>
            <a:srgbClr val="646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37960" y="1353312"/>
            <a:ext cx="3657600" cy="228600"/>
          </a:xfrm>
          <a:prstGeom prst="rect">
            <a:avLst/>
          </a:prstGeom>
          <a:solidFill>
            <a:srgbClr val="CD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37960" y="1353312"/>
            <a:ext cx="3300200" cy="22860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89320" y="130759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26.63%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130759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31.58%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116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32A34"/>
                </a:solidFill>
              </a:defRPr>
            </a:pPr>
            <a:r>
              <a:t>Facebook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0280" y="2039112"/>
            <a:ext cx="3657600" cy="228600"/>
          </a:xfrm>
          <a:prstGeom prst="rect">
            <a:avLst/>
          </a:prstGeom>
          <a:solidFill>
            <a:srgbClr val="CD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240280" y="2039112"/>
            <a:ext cx="1622929" cy="228600"/>
          </a:xfrm>
          <a:prstGeom prst="rect">
            <a:avLst/>
          </a:prstGeom>
          <a:solidFill>
            <a:srgbClr val="646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37960" y="2039112"/>
            <a:ext cx="3657600" cy="228600"/>
          </a:xfrm>
          <a:prstGeom prst="rect">
            <a:avLst/>
          </a:prstGeom>
          <a:solidFill>
            <a:srgbClr val="CD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37960" y="2039112"/>
            <a:ext cx="2473582" cy="22860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89320" y="199339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15.53%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199339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23.67%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6974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32A34"/>
                </a:solidFill>
              </a:defRPr>
            </a:pPr>
            <a:r>
              <a:t>Email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40280" y="2724912"/>
            <a:ext cx="3657600" cy="228600"/>
          </a:xfrm>
          <a:prstGeom prst="rect">
            <a:avLst/>
          </a:prstGeom>
          <a:solidFill>
            <a:srgbClr val="CD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240280" y="2724912"/>
            <a:ext cx="975011" cy="228600"/>
          </a:xfrm>
          <a:prstGeom prst="rect">
            <a:avLst/>
          </a:prstGeom>
          <a:solidFill>
            <a:srgbClr val="646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37960" y="2724912"/>
            <a:ext cx="3657600" cy="228600"/>
          </a:xfrm>
          <a:prstGeom prst="rect">
            <a:avLst/>
          </a:prstGeom>
          <a:solidFill>
            <a:srgbClr val="CD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537960" y="2724912"/>
            <a:ext cx="2433871" cy="22860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89320" y="267919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9.33%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267919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23.29%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3832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32A34"/>
                </a:solidFill>
              </a:defRPr>
            </a:pPr>
            <a:r>
              <a:t>Instagram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40280" y="3410712"/>
            <a:ext cx="3657600" cy="228600"/>
          </a:xfrm>
          <a:prstGeom prst="rect">
            <a:avLst/>
          </a:prstGeom>
          <a:solidFill>
            <a:srgbClr val="CD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240280" y="3410712"/>
            <a:ext cx="2402520" cy="228600"/>
          </a:xfrm>
          <a:prstGeom prst="rect">
            <a:avLst/>
          </a:prstGeom>
          <a:solidFill>
            <a:srgbClr val="646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537960" y="3410712"/>
            <a:ext cx="3657600" cy="228600"/>
          </a:xfrm>
          <a:prstGeom prst="rect">
            <a:avLst/>
          </a:prstGeom>
          <a:solidFill>
            <a:srgbClr val="CD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537960" y="3410712"/>
            <a:ext cx="1017857" cy="22860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89320" y="336499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22.99%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336499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9.74%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0690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32A34"/>
                </a:solidFill>
              </a:defRPr>
            </a:pPr>
            <a:r>
              <a:t>Influencer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40280" y="4096512"/>
            <a:ext cx="3657600" cy="228600"/>
          </a:xfrm>
          <a:prstGeom prst="rect">
            <a:avLst/>
          </a:prstGeom>
          <a:solidFill>
            <a:srgbClr val="CD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240280" y="4096512"/>
            <a:ext cx="481758" cy="228600"/>
          </a:xfrm>
          <a:prstGeom prst="rect">
            <a:avLst/>
          </a:prstGeom>
          <a:solidFill>
            <a:srgbClr val="646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537960" y="4096512"/>
            <a:ext cx="3657600" cy="228600"/>
          </a:xfrm>
          <a:prstGeom prst="rect">
            <a:avLst/>
          </a:prstGeom>
          <a:solidFill>
            <a:srgbClr val="CD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537960" y="4096512"/>
            <a:ext cx="734655" cy="22860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89320" y="405079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4.61%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405079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7.03%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47548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32A34"/>
                </a:solidFill>
              </a:defRPr>
            </a:pPr>
            <a:r>
              <a:t>YouTube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40280" y="4782312"/>
            <a:ext cx="3657600" cy="228600"/>
          </a:xfrm>
          <a:prstGeom prst="rect">
            <a:avLst/>
          </a:prstGeom>
          <a:solidFill>
            <a:srgbClr val="CD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240280" y="4782312"/>
            <a:ext cx="2185154" cy="228600"/>
          </a:xfrm>
          <a:prstGeom prst="rect">
            <a:avLst/>
          </a:prstGeom>
          <a:solidFill>
            <a:srgbClr val="646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537960" y="4782312"/>
            <a:ext cx="3657600" cy="228600"/>
          </a:xfrm>
          <a:prstGeom prst="rect">
            <a:avLst/>
          </a:prstGeom>
          <a:solidFill>
            <a:srgbClr val="CD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537960" y="4782312"/>
            <a:ext cx="489073" cy="22860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989320" y="473659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20.91%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87000" y="4736592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t>4.68%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40280" y="993334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6E7D"/>
                </a:solidFill>
              </a:defRPr>
            </a:pPr>
            <a:r>
              <a:rPr dirty="0"/>
              <a:t>Current share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37960" y="9601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64B4"/>
                </a:solidFill>
              </a:defRPr>
            </a:pPr>
            <a:r>
              <a:t>Recommended scenario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Marketing Campaign Performance &amp; Customer Segmentation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F30"/>
                </a:solidFill>
              </a:defRPr>
            </a:pPr>
            <a:r>
              <a:t>8. Recommendations &amp;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Scale high-performing campaigns gradually while monitoring incremental return.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Investigate weak campaigns before increasing spend — review creative, targeting, offer, landing-page experience and conversion flow.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Use segment-specific strategies: nurture Potential customers, promote to Discount Seekers, re-engage At Risk customers and retain High Value customers.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Match customer segments to channels where conversion performance is stronger.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Treat budget recommendations as testable scenarios; validate changes with controlled measurement rather than moving the full budget immediately.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3716"/>
          </a:xfrm>
          <a:prstGeom prst="rect">
            <a:avLst/>
          </a:prstGeom>
          <a:solidFill>
            <a:srgbClr val="D7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D"/>
                </a:solidFill>
              </a:defRPr>
            </a:pPr>
            <a:r>
              <a:t>Marketing Campaign Performance &amp; Customer Segmentation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541</Words>
  <Application>Microsoft Office PowerPoint</Application>
  <PresentationFormat>Widescreen</PresentationFormat>
  <Paragraphs>127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Sunny</dc:creator>
  <cp:keywords/>
  <dc:description>generated using python-pptx</dc:description>
  <cp:lastModifiedBy>Sunny</cp:lastModifiedBy>
  <cp:revision>2</cp:revision>
  <dcterms:created xsi:type="dcterms:W3CDTF">2013-01-27T09:14:16Z</dcterms:created>
  <dcterms:modified xsi:type="dcterms:W3CDTF">2026-08-23T19:13:02Z</dcterms:modified>
  <cp:category/>
</cp:coreProperties>
</file>